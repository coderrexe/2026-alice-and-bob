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0" r:id="rId1"/>
    <p:sldMasterId id="2147483701" r:id="rId2"/>
    <p:sldMasterId id="2147483702" r:id="rId3"/>
  </p:sldMasterIdLst>
  <p:notesMasterIdLst>
    <p:notesMasterId r:id="rId34"/>
  </p:notesMasterIdLst>
  <p:sldIdLst>
    <p:sldId id="256" r:id="rId4"/>
    <p:sldId id="265" r:id="rId5"/>
    <p:sldId id="257" r:id="rId6"/>
    <p:sldId id="258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59" r:id="rId28"/>
    <p:sldId id="260" r:id="rId29"/>
    <p:sldId id="261" r:id="rId30"/>
    <p:sldId id="262" r:id="rId31"/>
    <p:sldId id="263" r:id="rId32"/>
    <p:sldId id="264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Red Hat Display" panose="020B060402020202020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93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5.fntdata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c8c5b65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c8c5b65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4EC4CB-CF3D-4F48-916B-E6B94DC248F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79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c8c5b653c_0_1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c8c5b653c_0_1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c8c5b653c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bc8c5b653c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c8c5b653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bc8c5b653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c8c5b653c_0_1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bc8c5b653c_0_1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c8c5b653c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bc8c5b653c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c8c5b653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bc8c5b653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name="adj1" fmla="val 0"/>
              <a:gd name="adj2" fmla="val 396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name="adj1" fmla="val 0"/>
              <a:gd name="adj2" fmla="val 482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1">
  <p:cSld name="CUSTOM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24" name="Google Shape;224;p18"/>
          <p:cNvSpPr>
            <a:spLocks noGrp="1"/>
          </p:cNvSpPr>
          <p:nvPr>
            <p:ph type="pic" idx="2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>
            <a:spLocks noGrp="1"/>
          </p:cNvSpPr>
          <p:nvPr>
            <p:ph type="pic" idx="3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"/>
          <p:cNvSpPr>
            <a:spLocks noGrp="1"/>
          </p:cNvSpPr>
          <p:nvPr>
            <p:ph type="pic" idx="4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18"/>
          <p:cNvSpPr>
            <a:spLocks noGrp="1"/>
          </p:cNvSpPr>
          <p:nvPr>
            <p:ph type="pic" idx="5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18"/>
          <p:cNvSpPr>
            <a:spLocks noGrp="1"/>
          </p:cNvSpPr>
          <p:nvPr>
            <p:ph type="pic" idx="6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>
            <a:spLocks noGrp="1"/>
          </p:cNvSpPr>
          <p:nvPr>
            <p:ph type="subTitle" idx="1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7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8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9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13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14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15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6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17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18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2">
  <p:cSld name="CUSTOM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5" name="Google Shape;245;p19"/>
          <p:cNvSpPr>
            <a:spLocks noGrp="1"/>
          </p:cNvSpPr>
          <p:nvPr>
            <p:ph type="pic" idx="2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19"/>
          <p:cNvSpPr>
            <a:spLocks noGrp="1"/>
          </p:cNvSpPr>
          <p:nvPr>
            <p:ph type="pic" idx="3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19"/>
          <p:cNvSpPr>
            <a:spLocks noGrp="1"/>
          </p:cNvSpPr>
          <p:nvPr>
            <p:ph type="pic" idx="4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19"/>
          <p:cNvSpPr>
            <a:spLocks noGrp="1"/>
          </p:cNvSpPr>
          <p:nvPr>
            <p:ph type="pic" idx="5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19"/>
          <p:cNvSpPr>
            <a:spLocks noGrp="1"/>
          </p:cNvSpPr>
          <p:nvPr>
            <p:ph type="pic" idx="6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subTitle" idx="1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subTitle" idx="7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8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subTitle" idx="9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subTitle" idx="13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subTitle" idx="14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6" name="Google Shape;256;p19"/>
          <p:cNvSpPr txBox="1">
            <a:spLocks noGrp="1"/>
          </p:cNvSpPr>
          <p:nvPr>
            <p:ph type="subTitle" idx="15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subTitle" idx="16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subTitle" idx="17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ubTitle" idx="18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body" idx="19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body" idx="20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21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body" idx="22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body" idx="23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_1_1_1_1_1_1_1_1_1_1_2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>
            <a:spLocks noGrp="1"/>
          </p:cNvSpPr>
          <p:nvPr>
            <p:ph type="subTitle" idx="1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35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name="adj1" fmla="val 0"/>
              <a:gd name="adj2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7" name="Google Shape;487;p35"/>
          <p:cNvSpPr txBox="1">
            <a:spLocks noGrp="1"/>
          </p:cNvSpPr>
          <p:nvPr>
            <p:ph type="subTitle" idx="2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35"/>
          <p:cNvSpPr txBox="1">
            <a:spLocks noGrp="1"/>
          </p:cNvSpPr>
          <p:nvPr>
            <p:ph type="subTitle" idx="3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35"/>
          <p:cNvSpPr txBox="1">
            <a:spLocks noGrp="1"/>
          </p:cNvSpPr>
          <p:nvPr>
            <p:ph type="subTitle" idx="4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35"/>
          <p:cNvSpPr txBox="1">
            <a:spLocks noGrp="1"/>
          </p:cNvSpPr>
          <p:nvPr>
            <p:ph type="subTitle" idx="5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35"/>
          <p:cNvSpPr txBox="1">
            <a:spLocks noGrp="1"/>
          </p:cNvSpPr>
          <p:nvPr>
            <p:ph type="subTitle" idx="6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0" name="Google Shape;510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8" name="Google Shape;518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9" name="Google Shape;519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" name="Google Shape;524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29" name="Google Shape;529;p4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32" name="Google Shape;532;p4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33" name="Google Shape;533;p4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34" name="Google Shape;534;p4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5" name="Google Shape;535;p4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38" name="Google Shape;538;p4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4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1" name="Google Shape;541;p48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2" name="Google Shape;542;p48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46" name="Google Shape;546;p4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7" name="Google Shape;547;p4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8" name="Google Shape;548;p4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5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59" name="Google Shape;559;p5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2" name="Google Shape;56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5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4" name="Google Shape;564;p5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7" name="Google Shape;567;p5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0" name="Google Shape;570;p5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2" name="Google Shape;572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5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4" name="Google Shape;574;p5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5" name="Google Shape;575;p5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5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5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5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5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5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5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1526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4934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009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25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1845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4671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627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89029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7138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010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08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80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9683D-0D95-4093-B1BC-77E721970B70}" type="datetimeFigureOut">
              <a:rPr lang="zh-TW" altLang="en-US" smtClean="0"/>
              <a:t>2026/2/1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3CDB-5D9C-4CE2-B2BF-774BC049E4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658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5"/>
          <p:cNvSpPr txBox="1">
            <a:spLocks noGrp="1"/>
          </p:cNvSpPr>
          <p:nvPr>
            <p:ph type="title"/>
          </p:nvPr>
        </p:nvSpPr>
        <p:spPr>
          <a:xfrm>
            <a:off x="338800" y="815926"/>
            <a:ext cx="7539108" cy="2727277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Cat-Optimized RS and</a:t>
            </a:r>
            <a:br>
              <a:rPr lang="en" dirty="0"/>
            </a:br>
            <a:r>
              <a:rPr lang="en" dirty="0"/>
              <a:t>Quantum Tornado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Error-Correction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594" name="Google Shape;594;p55"/>
          <p:cNvSpPr txBox="1"/>
          <p:nvPr/>
        </p:nvSpPr>
        <p:spPr>
          <a:xfrm>
            <a:off x="6975774" y="4646474"/>
            <a:ext cx="1891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Alice &amp; Bob iQuHack 2026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5" name="Google Shape;595;p55"/>
          <p:cNvSpPr txBox="1"/>
          <p:nvPr/>
        </p:nvSpPr>
        <p:spPr>
          <a:xfrm>
            <a:off x="338800" y="4350675"/>
            <a:ext cx="47355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YQuambinator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Cheng-You Ho, Daniel Wang, Henry Ng, Justin Luo, Simba Shi</a:t>
            </a:r>
            <a:endParaRPr sz="12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0018E-B786-38B4-0F2A-5E0D041BA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2495"/>
            <a:ext cx="6858000" cy="1338510"/>
          </a:xfrm>
        </p:spPr>
        <p:txBody>
          <a:bodyPr/>
          <a:lstStyle/>
          <a:p>
            <a:r>
              <a:rPr lang="en-US" altLang="zh-TW" dirty="0"/>
              <a:t>Classical Reed–Solomon Error Correction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76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ADB1ACF-948C-1BED-22E1-CCECC42838D0}"/>
                  </a:ext>
                </a:extLst>
              </p:cNvPr>
              <p:cNvSpPr txBox="1"/>
              <p:nvPr/>
            </p:nvSpPr>
            <p:spPr>
              <a:xfrm>
                <a:off x="2630503" y="2147977"/>
                <a:ext cx="384073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𝑚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=(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ADB1ACF-948C-1BED-22E1-CCECC4283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03" y="2147977"/>
                <a:ext cx="384073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331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A20D-3643-3BD9-B24D-DA6F4A82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6CE26DA-1F2F-A9AD-3C42-31BD43275516}"/>
                  </a:ext>
                </a:extLst>
              </p:cNvPr>
              <p:cNvSpPr txBox="1"/>
              <p:nvPr/>
            </p:nvSpPr>
            <p:spPr>
              <a:xfrm>
                <a:off x="1634152" y="2100532"/>
                <a:ext cx="59210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6CE26DA-1F2F-A9AD-3C42-31BD43275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152" y="2100532"/>
                <a:ext cx="592104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7108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A457-4496-0998-ADD0-0CBAA40C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5D3BEEE-08D5-643A-53F1-4C8588E16010}"/>
                  </a:ext>
                </a:extLst>
              </p:cNvPr>
              <p:cNvSpPr txBox="1"/>
              <p:nvPr/>
            </p:nvSpPr>
            <p:spPr>
              <a:xfrm>
                <a:off x="1634152" y="621102"/>
                <a:ext cx="59210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5D3BEEE-08D5-643A-53F1-4C8588E16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152" y="621102"/>
                <a:ext cx="592104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 descr="一張含有 螢幕擷取畫面, 行, 圖表, 繪圖 的圖片&#10;&#10;AI 產生的內容可能不正確。">
            <a:extLst>
              <a:ext uri="{FF2B5EF4-FFF2-40B4-BE49-F238E27FC236}">
                <a16:creationId xmlns:a16="http://schemas.microsoft.com/office/drawing/2014/main" id="{22FB21BC-D0C8-7F0C-F82A-7E2A5AD6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912" y="1445745"/>
            <a:ext cx="5026177" cy="35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32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FC8F-F785-25B9-C758-EF447552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0D75A0-C694-98A4-8DE6-69C23627ECDE}"/>
                  </a:ext>
                </a:extLst>
              </p:cNvPr>
              <p:cNvSpPr txBox="1"/>
              <p:nvPr/>
            </p:nvSpPr>
            <p:spPr>
              <a:xfrm>
                <a:off x="3946997" y="2306293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0D75A0-C694-98A4-8DE6-69C23627E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97" y="2306293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849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0E5D-320E-3829-A1C5-FEB1FF6F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CA6F5EC-7DC8-DDFE-CE48-B84D3B4DDB00}"/>
                  </a:ext>
                </a:extLst>
              </p:cNvPr>
              <p:cNvSpPr txBox="1"/>
              <p:nvPr/>
            </p:nvSpPr>
            <p:spPr>
              <a:xfrm>
                <a:off x="3946997" y="1273669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CA6F5EC-7DC8-DDFE-CE48-B84D3B4DD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997" y="1273669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18BA949-84BA-98A5-00E6-BD3C7142268B}"/>
                  </a:ext>
                </a:extLst>
              </p:cNvPr>
              <p:cNvSpPr txBox="1"/>
              <p:nvPr/>
            </p:nvSpPr>
            <p:spPr>
              <a:xfrm>
                <a:off x="478971" y="2155719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18BA949-84BA-98A5-00E6-BD3C7142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2155719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335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E473-AB7D-B574-4071-BD1E0542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A73-CCA7-E77E-B002-5AB76A830FF2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AACBA73-CCA7-E77E-B002-5AB76A830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A5C9628-8FE4-476C-7549-15AA892E7F50}"/>
                  </a:ext>
                </a:extLst>
              </p:cNvPr>
              <p:cNvSpPr txBox="1"/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AA5C9628-8FE4-476C-7549-15AA892E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713874-4140-C961-1872-93B066540E13}"/>
                  </a:ext>
                </a:extLst>
              </p:cNvPr>
              <p:cNvSpPr txBox="1"/>
              <p:nvPr/>
            </p:nvSpPr>
            <p:spPr>
              <a:xfrm>
                <a:off x="3435535" y="2986314"/>
                <a:ext cx="2038733" cy="71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5=</m:t>
                      </m:r>
                      <m:r>
                        <a:rPr lang="en-US" altLang="zh-TW" sz="4050" i="1" kern="1200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lang="en-US" altLang="zh-TW" sz="4050" i="1" kern="120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lang="en-US" altLang="zh-TW" sz="4050" i="1" kern="1200">
                          <a:solidFill>
                            <a:srgbClr val="FFC000">
                              <a:lumMod val="60000"/>
                              <a:lumOff val="40000"/>
                            </a:srgbClr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n-US" altLang="zh-TW" sz="40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713874-4140-C961-1872-93B066540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535" y="2986314"/>
                <a:ext cx="2038733" cy="715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C08620F-5206-EA87-7DC0-B0D0806C2506}"/>
                  </a:ext>
                </a:extLst>
              </p:cNvPr>
              <p:cNvSpPr txBox="1"/>
              <p:nvPr/>
            </p:nvSpPr>
            <p:spPr>
              <a:xfrm>
                <a:off x="2539194" y="3876073"/>
                <a:ext cx="3831414" cy="715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50" i="1" kern="1200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sSup>
                        <m:sSupPr>
                          <m:ctrlP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405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en-US" altLang="zh-TW" sz="4050" i="1" kern="120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405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</m:t>
                      </m:r>
                    </m:oMath>
                  </m:oMathPara>
                </a14:m>
                <a:endParaRPr lang="en-US" altLang="zh-TW" sz="40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C08620F-5206-EA87-7DC0-B0D0806C2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194" y="3876073"/>
                <a:ext cx="3831414" cy="715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977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834D-13E5-6A39-3073-AE0984A4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8D539C2-64D1-A4AC-2198-1AF8A61956E8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8D539C2-64D1-A4AC-2198-1AF8A6195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E038B1F-886D-C5AD-D5EA-2114A591887A}"/>
                  </a:ext>
                </a:extLst>
              </p:cNvPr>
              <p:cNvSpPr txBox="1"/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 field with elements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+mn-cs"/>
                      </a:rPr>
                      <m:t>{0, 1, 2, 3, 4, 5, 6, 7}</m:t>
                    </m:r>
                  </m:oMath>
                </a14:m>
                <a:r>
                  <a:rPr lang="zh-TW" altLang="en-US" sz="30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operations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⋅</m:t>
                    </m:r>
                  </m:oMath>
                </a14:m>
                <a:r>
                  <a:rPr lang="zh-TW" altLang="en-US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similar to polynomials of degree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2 with coefficients mod 2.</a:t>
                </a: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E038B1F-886D-C5AD-D5EA-2114A5918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1"/>
                <a:ext cx="8186057" cy="1477328"/>
              </a:xfrm>
              <a:prstGeom prst="rect">
                <a:avLst/>
              </a:prstGeom>
              <a:blipFill>
                <a:blip r:embed="rId3"/>
                <a:stretch>
                  <a:fillRect l="-1490" t="-4959" r="-2459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801F0F7-C959-087B-0326-3DD900B5BC5B}"/>
              </a:ext>
            </a:extLst>
          </p:cNvPr>
          <p:cNvSpPr txBox="1"/>
          <p:nvPr/>
        </p:nvSpPr>
        <p:spPr>
          <a:xfrm>
            <a:off x="179410" y="2751634"/>
            <a:ext cx="8186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Ex.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89B0C58-7E1B-E643-BA0A-93CC126D66DA}"/>
                  </a:ext>
                </a:extLst>
              </p:cNvPr>
              <p:cNvSpPr txBox="1"/>
              <p:nvPr/>
            </p:nvSpPr>
            <p:spPr>
              <a:xfrm>
                <a:off x="12271" y="3418753"/>
                <a:ext cx="9033604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3⋅3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=011⋅011=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+2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+1=</m:t>
                      </m:r>
                      <m:sSup>
                        <m:sSup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+1=101</m:t>
                      </m:r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3+3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=011+011=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=2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+2=000=0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89B0C58-7E1B-E643-BA0A-93CC126D6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1" y="3418753"/>
                <a:ext cx="9033604" cy="1061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2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4293-2F52-C306-6A2D-61CBAC6A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5B016A4-E4F1-1967-2C0A-BAA952A0D7C9}"/>
                  </a:ext>
                </a:extLst>
              </p:cNvPr>
              <p:cNvSpPr txBox="1"/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𝐺𝐹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(8)</m:t>
                      </m:r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25B016A4-E4F1-1967-2C0A-BAA952A0D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77" y="531797"/>
                <a:ext cx="12977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FCE0E913-D29F-33DA-0A49-FDB38EA5BAEC}"/>
              </a:ext>
            </a:extLst>
          </p:cNvPr>
          <p:cNvSpPr txBox="1"/>
          <p:nvPr/>
        </p:nvSpPr>
        <p:spPr>
          <a:xfrm>
            <a:off x="436045" y="1297391"/>
            <a:ext cx="8186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Primitive element: a </a:t>
            </a:r>
            <a:r>
              <a:rPr lang="en-US" altLang="zh-TW" sz="3000" kern="1200" dirty="0">
                <a:solidFill>
                  <a:srgbClr val="FFC000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magic number </a:t>
            </a: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which, when self-multiplied, generates every non-zero element in the field.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C6612E-4CAA-CE9B-51DE-0F2AF4754B87}"/>
                  </a:ext>
                </a:extLst>
              </p:cNvPr>
              <p:cNvSpPr txBox="1"/>
              <p:nvPr/>
            </p:nvSpPr>
            <p:spPr>
              <a:xfrm>
                <a:off x="12271" y="341875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1→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→4→3→6→7→5→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US" altLang="zh-TW" sz="33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C6612E-4CAA-CE9B-51DE-0F2AF4754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1" y="3418753"/>
                <a:ext cx="9033604" cy="600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30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0218-2EE3-A5D3-8176-867EF15C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43F2E2-1827-E966-E2BE-8F3CFC5ACA8A}"/>
                  </a:ext>
                </a:extLst>
              </p:cNvPr>
              <p:cNvSpPr txBox="1"/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[1  </m:t>
                      </m:r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2  </m:t>
                      </m:r>
                      <m:r>
                        <a:rPr lang="en-US" altLang="zh-TW" sz="33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4  3  6  7  5]</m:t>
                      </m:r>
                    </m:oMath>
                  </m:oMathPara>
                </a14:m>
                <a:endParaRPr lang="en-US" altLang="zh-TW" sz="33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43F2E2-1827-E966-E2BE-8F3CFC5A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087C00E-9A1F-8979-646D-95B3F6DDBBB3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087C00E-9A1F-8979-646D-95B3F6DDB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85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92D0-D71B-7FC0-E8A3-383E90DC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B768DC-3F1A-14D7-15B7-5DA00DF2721E}"/>
                  </a:ext>
                </a:extLst>
              </p:cNvPr>
              <p:cNvSpPr txBox="1"/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[1  2  4  3  6  7  5]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B768DC-3F1A-14D7-15B7-5DA00DF2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A7BBE02-EC99-574D-DAE3-4ACC77F4367E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A7BBE02-EC99-574D-DAE3-4ACC77F43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5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8672-2CE1-9529-126C-EEE3359C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4E91CFC-7807-90E0-3E8C-D83539393AB5}"/>
                  </a:ext>
                </a:extLst>
              </p:cNvPr>
              <p:cNvSpPr txBox="1"/>
              <p:nvPr/>
            </p:nvSpPr>
            <p:spPr>
              <a:xfrm>
                <a:off x="55197" y="3297983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1  2  4  3  6  7  5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34E91CFC-7807-90E0-3E8C-D83539393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7" y="3297983"/>
                <a:ext cx="9033604" cy="6001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9A02BC6-DD44-C811-6AFF-773BFB399173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59A02BC6-DD44-C811-6AFF-773BFB399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036CA3-F371-F17E-83F6-F0C6AD471566}"/>
                  </a:ext>
                </a:extLst>
              </p:cNvPr>
              <p:cNvSpPr txBox="1"/>
              <p:nvPr/>
            </p:nvSpPr>
            <p:spPr>
              <a:xfrm>
                <a:off x="55198" y="2795494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1  1  1  1  1  1  1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5036CA3-F371-F17E-83F6-F0C6AD471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2795494"/>
                <a:ext cx="9033604" cy="600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3BC7A8-466B-6888-7A66-6B4BB13C16B4}"/>
                  </a:ext>
                </a:extLst>
              </p:cNvPr>
              <p:cNvSpPr txBox="1"/>
              <p:nvPr/>
            </p:nvSpPr>
            <p:spPr>
              <a:xfrm>
                <a:off x="55198" y="3800471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1  4  6  5  2  3  7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0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23BC7A8-466B-6888-7A66-6B4BB13C1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3800471"/>
                <a:ext cx="9033604" cy="6001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711258-3B55-300D-1AD1-D92FECA6F4CD}"/>
                  </a:ext>
                </a:extLst>
              </p:cNvPr>
              <p:cNvSpPr txBox="1"/>
              <p:nvPr/>
            </p:nvSpPr>
            <p:spPr>
              <a:xfrm>
                <a:off x="55198" y="4302960"/>
                <a:ext cx="90336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300" i="1" kern="12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1  3  5  4  7  2  6</m:t>
                      </m:r>
                    </m:oMath>
                  </m:oMathPara>
                </a14:m>
                <a:endParaRPr lang="en-US" altLang="zh-TW" sz="3300" kern="1200" dirty="0">
                  <a:solidFill>
                    <a:srgbClr val="FFFF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711258-3B55-300D-1AD1-D92FECA6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" y="4302960"/>
                <a:ext cx="9033604" cy="6001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31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625D-648E-5F00-5A82-AA1DDC7A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996F2BE-35EA-88BA-8EBD-E61F9C7F14EC}"/>
                  </a:ext>
                </a:extLst>
              </p:cNvPr>
              <p:cNvSpPr txBox="1"/>
              <p:nvPr/>
            </p:nvSpPr>
            <p:spPr>
              <a:xfrm>
                <a:off x="2441477" y="2727285"/>
                <a:ext cx="4572000" cy="164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𝑠𝑦𝑚</m:t>
                          </m:r>
                        </m:sub>
                      </m:sSub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700" i="1" kern="120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700" i="1" kern="1200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700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</m:oMath>
                  </m:oMathPara>
                </a14:m>
                <a:endParaRPr lang="zh-TW" altLang="en-US" sz="49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996F2BE-35EA-88BA-8EBD-E61F9C7F1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477" y="2727285"/>
                <a:ext cx="4572000" cy="164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E27AE00-BB57-8A8A-44E2-F7EDF9D3D0EB}"/>
                  </a:ext>
                </a:extLst>
              </p:cNvPr>
              <p:cNvSpPr txBox="1"/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US" altLang="zh-TW" sz="300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3000" i="1" kern="12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E27AE00-BB57-8A8A-44E2-F7EDF9D3D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97" y="1885302"/>
                <a:ext cx="632512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91173C-49FD-D179-6A9D-A418216C2D77}"/>
                  </a:ext>
                </a:extLst>
              </p:cNvPr>
              <p:cNvSpPr txBox="1"/>
              <p:nvPr/>
            </p:nvSpPr>
            <p:spPr>
              <a:xfrm>
                <a:off x="4843295" y="3335514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1  2  4  3  6  7  5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ED7D31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91173C-49FD-D179-6A9D-A418216C2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335514"/>
                <a:ext cx="1588134" cy="300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8CA2F14-45FB-02D4-6C24-12C2BE7D720A}"/>
                  </a:ext>
                </a:extLst>
              </p:cNvPr>
              <p:cNvSpPr txBox="1"/>
              <p:nvPr/>
            </p:nvSpPr>
            <p:spPr>
              <a:xfrm>
                <a:off x="4843295" y="3623629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1  4  6  5  2  3  7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0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8CA2F14-45FB-02D4-6C24-12C2BE7D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623629"/>
                <a:ext cx="1588134" cy="300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6EC6C2-CE1D-1E66-A7EF-0F210B066F6B}"/>
                  </a:ext>
                </a:extLst>
              </p:cNvPr>
              <p:cNvSpPr txBox="1"/>
              <p:nvPr/>
            </p:nvSpPr>
            <p:spPr>
              <a:xfrm>
                <a:off x="4843295" y="3878395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1  3  5  4  7  2  6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FF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6EC6C2-CE1D-1E66-A7EF-0F210B066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878395"/>
                <a:ext cx="1588134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F04319-C886-A83A-4D17-62EAC075F397}"/>
                  </a:ext>
                </a:extLst>
              </p:cNvPr>
              <p:cNvSpPr txBox="1"/>
              <p:nvPr/>
            </p:nvSpPr>
            <p:spPr>
              <a:xfrm>
                <a:off x="4843295" y="3047398"/>
                <a:ext cx="1588134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1  1  1  1  1  1  1</m:t>
                      </m:r>
                    </m:oMath>
                  </m:oMathPara>
                </a14:m>
                <a:endParaRPr lang="en-US" altLang="zh-TW" sz="135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DF04319-C886-A83A-4D17-62EAC075F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295" y="3047398"/>
                <a:ext cx="1588134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88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674D-01C0-88AF-B2EB-8072644B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8FAB7FC-011A-64B8-604F-29155DA8A216}"/>
                  </a:ext>
                </a:extLst>
              </p:cNvPr>
              <p:cNvSpPr txBox="1"/>
              <p:nvPr/>
            </p:nvSpPr>
            <p:spPr>
              <a:xfrm>
                <a:off x="336532" y="2701406"/>
                <a:ext cx="8470937" cy="164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𝑚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𝐺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⋅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7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TW" sz="2700" i="1" kern="120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700" i="1" kern="120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700" i="1" kern="1200">
                                              <a:solidFill>
                                                <a:srgbClr val="ED7D31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700" i="1" kern="1200">
                                              <a:solidFill>
                                                <a:prstClr val="white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700" i="1" kern="120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TW" sz="2700" i="1" kern="1200">
                                                    <a:solidFill>
                                                      <a:srgbClr val="FFFF00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7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n-US" altLang="zh-TW" sz="27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zh-TW" altLang="en-US" sz="49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8FAB7FC-011A-64B8-604F-29155DA8A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32" y="2701406"/>
                <a:ext cx="8470937" cy="16443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513955-64D5-A378-764F-BA03B650110B}"/>
                  </a:ext>
                </a:extLst>
              </p:cNvPr>
              <p:cNvSpPr txBox="1"/>
              <p:nvPr/>
            </p:nvSpPr>
            <p:spPr>
              <a:xfrm>
                <a:off x="436045" y="1297390"/>
                <a:ext cx="8186057" cy="1052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encodes a 4-digit message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into a 7-digit code </a:t>
                </a:r>
                <a14:m>
                  <m:oMath xmlns:m="http://schemas.openxmlformats.org/officeDocument/2006/math">
                    <m:r>
                      <a:rPr lang="en-US" altLang="zh-TW" sz="30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𝑐</m:t>
                    </m:r>
                    <m:r>
                      <a:rPr lang="en-US" altLang="zh-TW" sz="3000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</m:oMath>
                </a14:m>
                <a:endParaRPr lang="en-US" altLang="zh-TW" sz="30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513955-64D5-A378-764F-BA03B6501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5" y="1297390"/>
                <a:ext cx="8186057" cy="1052083"/>
              </a:xfrm>
              <a:prstGeom prst="rect">
                <a:avLst/>
              </a:prstGeom>
              <a:blipFill>
                <a:blip r:embed="rId3"/>
                <a:stretch>
                  <a:fillRect t="-6977" b="-180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85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7FD1-5AE6-C68E-DF5E-108E59B6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DE91E-C9B2-C600-E56D-D8C56ECEB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83383"/>
            <a:ext cx="6858000" cy="1338510"/>
          </a:xfrm>
        </p:spPr>
        <p:txBody>
          <a:bodyPr/>
          <a:lstStyle/>
          <a:p>
            <a:r>
              <a:rPr lang="en-US" altLang="zh-TW" dirty="0"/>
              <a:t>Quantum Reed–Solomon Error Correction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0A39D2F-66B9-CC05-D880-C505EE745ECE}"/>
                  </a:ext>
                </a:extLst>
              </p:cNvPr>
              <p:cNvSpPr txBox="1"/>
              <p:nvPr/>
            </p:nvSpPr>
            <p:spPr>
              <a:xfrm>
                <a:off x="3700036" y="3221466"/>
                <a:ext cx="174392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TW" sz="21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[21,12,4]</m:t>
                          </m:r>
                        </m:e>
                      </m:d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[[21,9,6]]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0A39D2F-66B9-CC05-D880-C505EE74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36" y="3221466"/>
                <a:ext cx="1743927" cy="738664"/>
              </a:xfrm>
              <a:prstGeom prst="rect">
                <a:avLst/>
              </a:prstGeom>
              <a:blipFill>
                <a:blip r:embed="rId2"/>
                <a:stretch>
                  <a:fillRect b="-9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644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3DB4-ECE9-4525-12D9-9E927A3F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1309DB3-B6D7-D150-CE08-96F6C2A16053}"/>
                  </a:ext>
                </a:extLst>
              </p:cNvPr>
              <p:cNvSpPr txBox="1"/>
              <p:nvPr/>
            </p:nvSpPr>
            <p:spPr>
              <a:xfrm>
                <a:off x="478972" y="2288042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1309DB3-B6D7-D150-CE08-96F6C2A16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2288042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32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8F03-716D-73CF-496A-076A08E2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2A61CB9-3A3F-35BB-1AA7-0376D1885FE2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2A61CB9-3A3F-35BB-1AA7-0376D1885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93EC7E0-CEA7-4CAE-2651-F999F08435EB}"/>
                  </a:ext>
                </a:extLst>
              </p:cNvPr>
              <p:cNvSpPr txBox="1"/>
              <p:nvPr/>
            </p:nvSpPr>
            <p:spPr>
              <a:xfrm>
                <a:off x="1168126" y="3406369"/>
                <a:ext cx="6807761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Every entry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zh-TW" altLang="en-US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is transformed into a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3×3</m:t>
                    </m:r>
                  </m:oMath>
                </a14:m>
                <a:r>
                  <a:rPr lang="zh-TW" altLang="en-US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matrix.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93EC7E0-CEA7-4CAE-2651-F999F0843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126" y="3406369"/>
                <a:ext cx="6807761" cy="398507"/>
              </a:xfrm>
              <a:prstGeom prst="rect">
                <a:avLst/>
              </a:prstGeom>
              <a:blipFill>
                <a:blip r:embed="rId3"/>
                <a:stretch>
                  <a:fillRect l="-2330" t="-23077" r="-2330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848B17E8-91AD-27C2-F53C-D054EFCC1053}"/>
              </a:ext>
            </a:extLst>
          </p:cNvPr>
          <p:cNvGrpSpPr/>
          <p:nvPr/>
        </p:nvGrpSpPr>
        <p:grpSpPr>
          <a:xfrm>
            <a:off x="1161216" y="1357321"/>
            <a:ext cx="13420684" cy="1753854"/>
            <a:chOff x="1548288" y="1809761"/>
            <a:chExt cx="17894244" cy="233847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6EEFA8A-7F37-17EF-5A5F-F0F76685B817}"/>
                </a:ext>
              </a:extLst>
            </p:cNvPr>
            <p:cNvSpPr/>
            <p:nvPr/>
          </p:nvSpPr>
          <p:spPr>
            <a:xfrm>
              <a:off x="4524805" y="2401037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BACFDD-5528-1D96-22A2-303D2C7F4310}"/>
                </a:ext>
              </a:extLst>
            </p:cNvPr>
            <p:cNvSpPr/>
            <p:nvPr/>
          </p:nvSpPr>
          <p:spPr>
            <a:xfrm>
              <a:off x="6054702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F8267C0-ED22-111F-8365-7E3CE2D63B37}"/>
                </a:ext>
              </a:extLst>
            </p:cNvPr>
            <p:cNvSpPr/>
            <p:nvPr/>
          </p:nvSpPr>
          <p:spPr>
            <a:xfrm>
              <a:off x="6649553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59E3D70-CC59-7219-7F7F-0F689A057B5B}"/>
                </a:ext>
              </a:extLst>
            </p:cNvPr>
            <p:cNvSpPr/>
            <p:nvPr/>
          </p:nvSpPr>
          <p:spPr>
            <a:xfrm>
              <a:off x="7244404" y="18097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C691E87-A7DA-9C22-034F-24426FE07B0A}"/>
                </a:ext>
              </a:extLst>
            </p:cNvPr>
            <p:cNvSpPr/>
            <p:nvPr/>
          </p:nvSpPr>
          <p:spPr>
            <a:xfrm>
              <a:off x="6054702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151E5C9-3F57-834E-FF69-07CD21881100}"/>
                </a:ext>
              </a:extLst>
            </p:cNvPr>
            <p:cNvSpPr/>
            <p:nvPr/>
          </p:nvSpPr>
          <p:spPr>
            <a:xfrm>
              <a:off x="6649553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34E7250-D838-3BCE-2639-5EF7D4326915}"/>
                </a:ext>
              </a:extLst>
            </p:cNvPr>
            <p:cNvSpPr/>
            <p:nvPr/>
          </p:nvSpPr>
          <p:spPr>
            <a:xfrm>
              <a:off x="7244404" y="23661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475B986-8A6E-C522-7D5B-B0A729A4E73F}"/>
                </a:ext>
              </a:extLst>
            </p:cNvPr>
            <p:cNvSpPr/>
            <p:nvPr/>
          </p:nvSpPr>
          <p:spPr>
            <a:xfrm>
              <a:off x="6054702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767AE04-60A3-D987-01C5-F2F9A8B25DFF}"/>
                </a:ext>
              </a:extLst>
            </p:cNvPr>
            <p:cNvSpPr/>
            <p:nvPr/>
          </p:nvSpPr>
          <p:spPr>
            <a:xfrm>
              <a:off x="6649553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508E4E-6D2C-B2D6-3654-7CE2B37D8A51}"/>
                </a:ext>
              </a:extLst>
            </p:cNvPr>
            <p:cNvSpPr/>
            <p:nvPr/>
          </p:nvSpPr>
          <p:spPr>
            <a:xfrm>
              <a:off x="7244404" y="29036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23" name="箭號: 向右 22">
              <a:extLst>
                <a:ext uri="{FF2B5EF4-FFF2-40B4-BE49-F238E27FC236}">
                  <a16:creationId xmlns:a16="http://schemas.microsoft.com/office/drawing/2014/main" id="{28BD0E3D-E769-D546-012A-B7A7D0E6BC9B}"/>
                </a:ext>
              </a:extLst>
            </p:cNvPr>
            <p:cNvSpPr/>
            <p:nvPr/>
          </p:nvSpPr>
          <p:spPr>
            <a:xfrm>
              <a:off x="5196592" y="2334711"/>
              <a:ext cx="578876" cy="4830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7C95B72-F9CB-4D84-F3E4-1A0481D56698}"/>
                </a:ext>
              </a:extLst>
            </p:cNvPr>
            <p:cNvGrpSpPr/>
            <p:nvPr/>
          </p:nvGrpSpPr>
          <p:grpSpPr>
            <a:xfrm>
              <a:off x="1548288" y="2274895"/>
              <a:ext cx="17894244" cy="1873339"/>
              <a:chOff x="1548288" y="2274895"/>
              <a:chExt cx="17894244" cy="18733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89CC70D-13BC-F3F8-701F-4B832364CC0D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𝑠𝑦𝑚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89CC70D-13BC-F3F8-701F-4B832364CC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70CD1AEC-EA24-3103-0C3F-A767A6D9CBB2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𝑏𝑖𝑛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70CD1AEC-EA24-3103-0C3F-A767A6D9CB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箭號: 向右 5">
                <a:extLst>
                  <a:ext uri="{FF2B5EF4-FFF2-40B4-BE49-F238E27FC236}">
                    <a16:creationId xmlns:a16="http://schemas.microsoft.com/office/drawing/2014/main" id="{E5B390A1-5572-BAB7-EF51-F99B419A5A06}"/>
                  </a:ext>
                </a:extLst>
              </p:cNvPr>
              <p:cNvSpPr/>
              <p:nvPr/>
            </p:nvSpPr>
            <p:spPr>
              <a:xfrm>
                <a:off x="4070075" y="34405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A44BFA56-74F6-1ACA-EA3D-EFF3574A2B88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4×7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A44BFA56-74F6-1ACA-EA3D-EFF3574A2B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59EDA32F-D335-EB50-A3C7-30D0F32C8768}"/>
                      </a:ext>
                    </a:extLst>
                  </p:cNvPr>
                  <p:cNvSpPr txBox="1"/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12×21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59EDA32F-D335-EB50-A3C7-30D0F32C87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箭號: 向右 10">
                <a:extLst>
                  <a:ext uri="{FF2B5EF4-FFF2-40B4-BE49-F238E27FC236}">
                    <a16:creationId xmlns:a16="http://schemas.microsoft.com/office/drawing/2014/main" id="{AC41E782-0542-2708-175F-A1141A157520}"/>
                  </a:ext>
                </a:extLst>
              </p:cNvPr>
              <p:cNvSpPr/>
              <p:nvPr/>
            </p:nvSpPr>
            <p:spPr>
              <a:xfrm>
                <a:off x="10722634" y="33643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664E8030-464B-E703-4DE0-CC2C7E672485}"/>
                      </a:ext>
                    </a:extLst>
                  </p:cNvPr>
                  <p:cNvSpPr txBox="1"/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=[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664E8030-464B-E703-4DE0-CC2C7E6724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2D2275B-19EC-346C-3F70-C079126F7A17}"/>
                  </a:ext>
                </a:extLst>
              </p:cNvPr>
              <p:cNvSpPr txBox="1"/>
              <p:nvPr/>
            </p:nvSpPr>
            <p:spPr>
              <a:xfrm>
                <a:off x="12290531" y="2846719"/>
                <a:ext cx="8335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RREF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9106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E057-BD3A-085A-7B07-FE317342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6ABC6D-F860-35BE-CAD8-19BC2141D9FD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66ABC6D-F860-35BE-CAD8-19BC2141D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DD3E492-50A4-68E5-7514-539A7F298331}"/>
                  </a:ext>
                </a:extLst>
              </p:cNvPr>
              <p:cNvSpPr txBox="1"/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Parity Matrix</a:t>
                </a:r>
              </a:p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lang="en-US" altLang="zh-TW" sz="2400" i="1" kern="1200" dirty="0" err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]=1</m:t>
                    </m:r>
                  </m:oMath>
                </a14:m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𝐶𝑋</m:t>
                    </m:r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</m:oMath>
                </a14:m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i-th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data, j-</a:t>
                </a:r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parity)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DD3E492-50A4-68E5-7514-539A7F298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blipFill>
                <a:blip r:embed="rId3"/>
                <a:stretch>
                  <a:fillRect l="-2824" t="-13223" r="-3979" b="-239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502EE34D-756C-BC70-4DA0-688D2097482F}"/>
              </a:ext>
            </a:extLst>
          </p:cNvPr>
          <p:cNvGrpSpPr/>
          <p:nvPr/>
        </p:nvGrpSpPr>
        <p:grpSpPr>
          <a:xfrm>
            <a:off x="-4752866" y="1381468"/>
            <a:ext cx="13420684" cy="1753854"/>
            <a:chOff x="1548288" y="1809761"/>
            <a:chExt cx="17894244" cy="2338473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C630CF-35B9-C7FF-BCE0-F17D5099FC2F}"/>
                </a:ext>
              </a:extLst>
            </p:cNvPr>
            <p:cNvSpPr/>
            <p:nvPr/>
          </p:nvSpPr>
          <p:spPr>
            <a:xfrm>
              <a:off x="4524805" y="2401037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A077637-8DBF-6F9A-4154-100FF39DC659}"/>
                </a:ext>
              </a:extLst>
            </p:cNvPr>
            <p:cNvSpPr/>
            <p:nvPr/>
          </p:nvSpPr>
          <p:spPr>
            <a:xfrm>
              <a:off x="6054702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4CAA8533-863F-379A-F042-7D751C8070BC}"/>
                </a:ext>
              </a:extLst>
            </p:cNvPr>
            <p:cNvSpPr/>
            <p:nvPr/>
          </p:nvSpPr>
          <p:spPr>
            <a:xfrm>
              <a:off x="6649553" y="18156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078F43B-D64C-CCC8-4848-908F934D8F0E}"/>
                </a:ext>
              </a:extLst>
            </p:cNvPr>
            <p:cNvSpPr/>
            <p:nvPr/>
          </p:nvSpPr>
          <p:spPr>
            <a:xfrm>
              <a:off x="7244404" y="180976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C16B2A6-F33F-447F-9FAE-C5F43E5FF978}"/>
                </a:ext>
              </a:extLst>
            </p:cNvPr>
            <p:cNvSpPr/>
            <p:nvPr/>
          </p:nvSpPr>
          <p:spPr>
            <a:xfrm>
              <a:off x="6054702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6FFF929-D51D-CC8A-8FE3-1FA7CA8104F4}"/>
                </a:ext>
              </a:extLst>
            </p:cNvPr>
            <p:cNvSpPr/>
            <p:nvPr/>
          </p:nvSpPr>
          <p:spPr>
            <a:xfrm>
              <a:off x="6649553" y="23720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CCD5D540-5684-89DF-F52B-D4F12AD62B8E}"/>
                </a:ext>
              </a:extLst>
            </p:cNvPr>
            <p:cNvSpPr/>
            <p:nvPr/>
          </p:nvSpPr>
          <p:spPr>
            <a:xfrm>
              <a:off x="7244404" y="236617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9A4BE39-4808-4BD7-9504-88A109FEC014}"/>
                </a:ext>
              </a:extLst>
            </p:cNvPr>
            <p:cNvSpPr/>
            <p:nvPr/>
          </p:nvSpPr>
          <p:spPr>
            <a:xfrm>
              <a:off x="6054702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6708C99-84BB-4323-AEF9-E3A30E71B39F}"/>
                </a:ext>
              </a:extLst>
            </p:cNvPr>
            <p:cNvSpPr/>
            <p:nvPr/>
          </p:nvSpPr>
          <p:spPr>
            <a:xfrm>
              <a:off x="6649553" y="29095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r>
                <a:rPr lang="en-US" altLang="zh-TW" sz="135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c</a:t>
              </a:r>
              <a:endParaRPr lang="zh-TW" altLang="en-US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2573589-F592-7DE8-38CD-CBCC64305CA3}"/>
                </a:ext>
              </a:extLst>
            </p:cNvPr>
            <p:cNvSpPr/>
            <p:nvPr/>
          </p:nvSpPr>
          <p:spPr>
            <a:xfrm>
              <a:off x="7244404" y="2903651"/>
              <a:ext cx="365760" cy="3657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sp>
          <p:nvSpPr>
            <p:cNvPr id="79" name="箭號: 向右 78">
              <a:extLst>
                <a:ext uri="{FF2B5EF4-FFF2-40B4-BE49-F238E27FC236}">
                  <a16:creationId xmlns:a16="http://schemas.microsoft.com/office/drawing/2014/main" id="{3F8BD871-A71B-5725-C9EA-6147D198E337}"/>
                </a:ext>
              </a:extLst>
            </p:cNvPr>
            <p:cNvSpPr/>
            <p:nvPr/>
          </p:nvSpPr>
          <p:spPr>
            <a:xfrm>
              <a:off x="5196592" y="2334711"/>
              <a:ext cx="578876" cy="4830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buClrTx/>
              </a:pPr>
              <a:endParaRPr lang="zh-TW" altLang="en-US" sz="1350" kern="120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29B978AC-1AA7-36E7-5DC1-CFCFC667D84E}"/>
                </a:ext>
              </a:extLst>
            </p:cNvPr>
            <p:cNvGrpSpPr/>
            <p:nvPr/>
          </p:nvGrpSpPr>
          <p:grpSpPr>
            <a:xfrm>
              <a:off x="1548288" y="2274895"/>
              <a:ext cx="17894244" cy="1873339"/>
              <a:chOff x="1548288" y="2274895"/>
              <a:chExt cx="17894244" cy="18733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3EEB1461-54BE-15B3-23E3-9C9773A52436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𝑠𝑦𝑚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3EEB1461-54BE-15B3-23E3-9C9773A524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8288" y="2846719"/>
                    <a:ext cx="2171535" cy="11955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5BEA864-C5E9-F867-E2A4-86E5FAC36EF3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𝑏𝑖𝑛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5BEA864-C5E9-F867-E2A4-86E5FAC36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720" y="2890448"/>
                    <a:ext cx="1892997" cy="110799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3" name="箭號: 向右 82">
                <a:extLst>
                  <a:ext uri="{FF2B5EF4-FFF2-40B4-BE49-F238E27FC236}">
                    <a16:creationId xmlns:a16="http://schemas.microsoft.com/office/drawing/2014/main" id="{79BD9FBB-7F48-5BA0-2731-88AC6785A4DE}"/>
                  </a:ext>
                </a:extLst>
              </p:cNvPr>
              <p:cNvSpPr/>
              <p:nvPr/>
            </p:nvSpPr>
            <p:spPr>
              <a:xfrm>
                <a:off x="4070075" y="34405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E718157B-52CB-9AAD-F003-A0413E2F33E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4×7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4" name="文字方塊 83">
                    <a:extLst>
                      <a:ext uri="{FF2B5EF4-FFF2-40B4-BE49-F238E27FC236}">
                        <a16:creationId xmlns:a16="http://schemas.microsoft.com/office/drawing/2014/main" id="{E718157B-52CB-9AAD-F003-A0413E2F3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219" y="2274895"/>
                    <a:ext cx="1277359" cy="615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28C1F354-8907-C30D-03BF-9D37EFC74A2A}"/>
                      </a:ext>
                    </a:extLst>
                  </p:cNvPr>
                  <p:cNvSpPr txBox="1"/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0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12×21</m:t>
                          </m:r>
                        </m:oMath>
                      </m:oMathPara>
                    </a14:m>
                    <a:endParaRPr lang="zh-TW" altLang="en-US" sz="36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28C1F354-8907-C30D-03BF-9D37EFC74A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78604" y="2310982"/>
                    <a:ext cx="1845891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A4911C3D-50D7-4CB2-F16E-BE51BEBE3628}"/>
                  </a:ext>
                </a:extLst>
              </p:cNvPr>
              <p:cNvSpPr/>
              <p:nvPr/>
            </p:nvSpPr>
            <p:spPr>
              <a:xfrm>
                <a:off x="10722634" y="3364304"/>
                <a:ext cx="4209691" cy="4830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buClrTx/>
                </a:pPr>
                <a:endParaRPr lang="zh-TW" altLang="en-US" sz="1350" kern="120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CB654D2-D362-35DE-A7D4-B8CF0899E83E}"/>
                      </a:ext>
                    </a:extLst>
                  </p:cNvPr>
                  <p:cNvSpPr txBox="1"/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342900">
                      <a:buClrTx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TW" sz="5400" i="1" kern="1200">
                                  <a:solidFill>
                                    <a:prstClr val="white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=[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oMath>
                      </m:oMathPara>
                    </a14:m>
                    <a:endParaRPr lang="zh-TW" altLang="en-US" sz="5400" kern="1200" dirty="0">
                      <a:solidFill>
                        <a:prstClr val="white"/>
                      </a:solidFill>
                      <a:latin typeface="Calibri" panose="020F0502020204030204"/>
                      <a:ea typeface="新細明體" panose="02020500000000000000" pitchFamily="18" charset="-120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CB654D2-D362-35DE-A7D4-B8CF0899E8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09835" y="3040238"/>
                    <a:ext cx="4232697" cy="110799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97F32368-F690-76A2-38BE-AB8149DD6C07}"/>
                  </a:ext>
                </a:extLst>
              </p:cNvPr>
              <p:cNvSpPr txBox="1"/>
              <p:nvPr/>
            </p:nvSpPr>
            <p:spPr>
              <a:xfrm>
                <a:off x="12290531" y="2846719"/>
                <a:ext cx="8335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RREF</a:t>
                </a:r>
                <a:endParaRPr lang="zh-TW" altLang="en-US" sz="2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4585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A59C-9001-511E-2D1F-1BCDD532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7BD83D6-FC0E-2206-414E-D8504102CBAF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7BD83D6-FC0E-2206-414E-D8504102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3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C3051C7-478F-D463-42A9-0504D24056F6}"/>
                  </a:ext>
                </a:extLst>
              </p:cNvPr>
              <p:cNvSpPr txBox="1"/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srgbClr val="FFC000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Parity Matrix</a:t>
                </a:r>
              </a:p>
              <a:p>
                <a:pPr algn="r" defTabSz="342900">
                  <a:buClrTx/>
                </a:pP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lang="en-US" altLang="zh-TW" sz="2400" i="1" kern="1200" dirty="0" err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lang="en-US" altLang="zh-TW" sz="2400" i="1" kern="120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]=1</m:t>
                    </m:r>
                  </m:oMath>
                </a14:m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𝐶𝑋</m:t>
                    </m:r>
                    <m:r>
                      <a:rPr lang="en-US" altLang="zh-TW" sz="2400" i="1" kern="120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</m:oMath>
                </a14:m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i-th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data, j-</a:t>
                </a:r>
                <a:r>
                  <a:rPr lang="en-US" altLang="zh-TW" sz="2400" kern="1200" dirty="0" err="1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th</a:t>
                </a:r>
                <a:r>
                  <a:rPr lang="en-US" altLang="zh-TW" sz="24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parity)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C3051C7-478F-D463-42A9-0504D2405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871" y="3344297"/>
                <a:ext cx="4746812" cy="738664"/>
              </a:xfrm>
              <a:prstGeom prst="rect">
                <a:avLst/>
              </a:prstGeom>
              <a:blipFill>
                <a:blip r:embed="rId4"/>
                <a:stretch>
                  <a:fillRect l="-2824" t="-13223" r="-3979" b="-239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矩形 68">
            <a:extLst>
              <a:ext uri="{FF2B5EF4-FFF2-40B4-BE49-F238E27FC236}">
                <a16:creationId xmlns:a16="http://schemas.microsoft.com/office/drawing/2014/main" id="{9B8F95C1-B174-1091-02B4-1F0FC239E180}"/>
              </a:ext>
            </a:extLst>
          </p:cNvPr>
          <p:cNvSpPr/>
          <p:nvPr/>
        </p:nvSpPr>
        <p:spPr>
          <a:xfrm>
            <a:off x="-2520478" y="182492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8EE755-7561-E522-B738-234A9A4B0AEE}"/>
              </a:ext>
            </a:extLst>
          </p:cNvPr>
          <p:cNvSpPr/>
          <p:nvPr/>
        </p:nvSpPr>
        <p:spPr>
          <a:xfrm>
            <a:off x="-1373055" y="1385893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1953D73-472B-1C99-051D-E35F2FAA35C5}"/>
              </a:ext>
            </a:extLst>
          </p:cNvPr>
          <p:cNvSpPr/>
          <p:nvPr/>
        </p:nvSpPr>
        <p:spPr>
          <a:xfrm>
            <a:off x="-926917" y="1385893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7EE4C38-A5C4-2064-9EDF-43D596B25CE6}"/>
              </a:ext>
            </a:extLst>
          </p:cNvPr>
          <p:cNvSpPr/>
          <p:nvPr/>
        </p:nvSpPr>
        <p:spPr>
          <a:xfrm>
            <a:off x="-480779" y="1381468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A0D191B-FA3B-8044-938E-1AB281865044}"/>
              </a:ext>
            </a:extLst>
          </p:cNvPr>
          <p:cNvSpPr/>
          <p:nvPr/>
        </p:nvSpPr>
        <p:spPr>
          <a:xfrm>
            <a:off x="-1373055" y="180320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56C9E39-DB01-1C11-DE3E-AC2E9B6330CF}"/>
              </a:ext>
            </a:extLst>
          </p:cNvPr>
          <p:cNvSpPr/>
          <p:nvPr/>
        </p:nvSpPr>
        <p:spPr>
          <a:xfrm>
            <a:off x="-926917" y="180320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07B1CA6-B8BA-3A48-8D64-711540708508}"/>
              </a:ext>
            </a:extLst>
          </p:cNvPr>
          <p:cNvSpPr/>
          <p:nvPr/>
        </p:nvSpPr>
        <p:spPr>
          <a:xfrm>
            <a:off x="-480779" y="179877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959F127-D347-440F-32B3-92BC5E1BBA3C}"/>
              </a:ext>
            </a:extLst>
          </p:cNvPr>
          <p:cNvSpPr/>
          <p:nvPr/>
        </p:nvSpPr>
        <p:spPr>
          <a:xfrm>
            <a:off x="-1373055" y="220631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E368C8B-38F9-AFC5-5DFB-67AD506C0BED}"/>
              </a:ext>
            </a:extLst>
          </p:cNvPr>
          <p:cNvSpPr/>
          <p:nvPr/>
        </p:nvSpPr>
        <p:spPr>
          <a:xfrm>
            <a:off x="-926917" y="2206310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r>
              <a:rPr lang="en-US" altLang="zh-TW" sz="13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c</a:t>
            </a:r>
            <a:endParaRPr lang="zh-TW" altLang="en-US" sz="135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914FEC3-206E-71FA-0D01-8FA1FF0F8EC8}"/>
              </a:ext>
            </a:extLst>
          </p:cNvPr>
          <p:cNvSpPr/>
          <p:nvPr/>
        </p:nvSpPr>
        <p:spPr>
          <a:xfrm>
            <a:off x="-480779" y="2201885"/>
            <a:ext cx="274320" cy="274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79" name="箭號: 向右 78">
            <a:extLst>
              <a:ext uri="{FF2B5EF4-FFF2-40B4-BE49-F238E27FC236}">
                <a16:creationId xmlns:a16="http://schemas.microsoft.com/office/drawing/2014/main" id="{6BC98B8B-867C-D316-FC31-1EAC72090084}"/>
              </a:ext>
            </a:extLst>
          </p:cNvPr>
          <p:cNvSpPr/>
          <p:nvPr/>
        </p:nvSpPr>
        <p:spPr>
          <a:xfrm>
            <a:off x="-2016638" y="1775180"/>
            <a:ext cx="434157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1E5F4A4-AF64-9EA6-43E1-A5C5C6B812CF}"/>
                  </a:ext>
                </a:extLst>
              </p:cNvPr>
              <p:cNvSpPr txBox="1"/>
              <p:nvPr/>
            </p:nvSpPr>
            <p:spPr>
              <a:xfrm>
                <a:off x="-4752865" y="2159186"/>
                <a:ext cx="1628651" cy="896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𝑠𝑦𝑚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B1E5F4A4-AF64-9EA6-43E1-A5C5C6B81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52865" y="2159186"/>
                <a:ext cx="1628651" cy="896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8076DC85-0282-72DA-CBCF-B1B8861141A2}"/>
                  </a:ext>
                </a:extLst>
              </p:cNvPr>
              <p:cNvSpPr txBox="1"/>
              <p:nvPr/>
            </p:nvSpPr>
            <p:spPr>
              <a:xfrm>
                <a:off x="561209" y="2191983"/>
                <a:ext cx="1419748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𝑏𝑖𝑛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8076DC85-0282-72DA-CBCF-B1B886114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09" y="2191983"/>
                <a:ext cx="1419748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箭號: 向右 82">
            <a:extLst>
              <a:ext uri="{FF2B5EF4-FFF2-40B4-BE49-F238E27FC236}">
                <a16:creationId xmlns:a16="http://schemas.microsoft.com/office/drawing/2014/main" id="{CD1E500A-47FC-DBF8-24AD-2367BBFD6B01}"/>
              </a:ext>
            </a:extLst>
          </p:cNvPr>
          <p:cNvSpPr/>
          <p:nvPr/>
        </p:nvSpPr>
        <p:spPr>
          <a:xfrm>
            <a:off x="-2861525" y="260452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94339B3A-7A71-DAE8-0854-3EFE010260F1}"/>
                  </a:ext>
                </a:extLst>
              </p:cNvPr>
              <p:cNvSpPr txBox="1"/>
              <p:nvPr/>
            </p:nvSpPr>
            <p:spPr>
              <a:xfrm>
                <a:off x="-4419169" y="1730319"/>
                <a:ext cx="958019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4×7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94339B3A-7A71-DAE8-0854-3EFE01026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9169" y="1730319"/>
                <a:ext cx="95801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52B68B59-AD81-1001-DBA9-312DCC66973F}"/>
                  </a:ext>
                </a:extLst>
              </p:cNvPr>
              <p:cNvSpPr txBox="1"/>
              <p:nvPr/>
            </p:nvSpPr>
            <p:spPr>
              <a:xfrm>
                <a:off x="594871" y="1757384"/>
                <a:ext cx="138441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12×21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52B68B59-AD81-1001-DBA9-312DCC669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71" y="1757384"/>
                <a:ext cx="138441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箭號: 向右 85">
            <a:extLst>
              <a:ext uri="{FF2B5EF4-FFF2-40B4-BE49-F238E27FC236}">
                <a16:creationId xmlns:a16="http://schemas.microsoft.com/office/drawing/2014/main" id="{EE796349-947D-4B12-B4F4-46BB59D143E8}"/>
              </a:ext>
            </a:extLst>
          </p:cNvPr>
          <p:cNvSpPr/>
          <p:nvPr/>
        </p:nvSpPr>
        <p:spPr>
          <a:xfrm>
            <a:off x="2127895" y="254737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A6BAB57-058F-E388-D743-0BEB1C9FD7C6}"/>
                  </a:ext>
                </a:extLst>
              </p:cNvPr>
              <p:cNvSpPr txBox="1"/>
              <p:nvPr/>
            </p:nvSpPr>
            <p:spPr>
              <a:xfrm>
                <a:off x="5493295" y="2304325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A6BAB57-058F-E388-D743-0BEB1C9FD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295" y="2304325"/>
                <a:ext cx="3174523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字方塊 87">
            <a:extLst>
              <a:ext uri="{FF2B5EF4-FFF2-40B4-BE49-F238E27FC236}">
                <a16:creationId xmlns:a16="http://schemas.microsoft.com/office/drawing/2014/main" id="{443B4456-EAE5-74D1-F391-EBB312DEA862}"/>
              </a:ext>
            </a:extLst>
          </p:cNvPr>
          <p:cNvSpPr txBox="1"/>
          <p:nvPr/>
        </p:nvSpPr>
        <p:spPr>
          <a:xfrm>
            <a:off x="3303817" y="2159186"/>
            <a:ext cx="62517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342900">
              <a:buClrTx/>
            </a:pPr>
            <a:r>
              <a:rPr lang="en-US" altLang="zh-TW" sz="24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RREF</a:t>
            </a:r>
            <a:endParaRPr lang="zh-TW" altLang="en-US" sz="24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210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9CB42-22CE-A9FC-235F-EB67B201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202B743-8316-A1DC-6B13-7387840EA141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202B743-8316-A1DC-6B13-7387840EA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53A11B1-96AB-0D50-0C96-32C783119C9F}"/>
                  </a:ext>
                </a:extLst>
              </p:cNvPr>
              <p:cNvSpPr txBox="1"/>
              <p:nvPr/>
            </p:nvSpPr>
            <p:spPr>
              <a:xfrm>
                <a:off x="543936" y="2167836"/>
                <a:ext cx="1419748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𝑏𝑖𝑛</m:t>
                          </m:r>
                        </m:sub>
                      </m:sSub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53A11B1-96AB-0D50-0C96-32C78311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36" y="2167836"/>
                <a:ext cx="1419748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AE3C8B3-6FCD-C2B9-61B4-A63F5FB0BFFE}"/>
                  </a:ext>
                </a:extLst>
              </p:cNvPr>
              <p:cNvSpPr txBox="1"/>
              <p:nvPr/>
            </p:nvSpPr>
            <p:spPr>
              <a:xfrm>
                <a:off x="577599" y="1733237"/>
                <a:ext cx="138441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12×21</m:t>
                      </m:r>
                    </m:oMath>
                  </m:oMathPara>
                </a14:m>
                <a:endParaRPr lang="zh-TW" altLang="en-US" sz="36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AE3C8B3-6FCD-C2B9-61B4-A63F5FB0B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99" y="1733237"/>
                <a:ext cx="13844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F6D560C-0B96-5671-8A2F-89C76758ED5C}"/>
                  </a:ext>
                </a:extLst>
              </p:cNvPr>
              <p:cNvSpPr txBox="1"/>
              <p:nvPr/>
            </p:nvSpPr>
            <p:spPr>
              <a:xfrm>
                <a:off x="5547306" y="1779403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F6D560C-0B96-5671-8A2F-89C76758E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306" y="1779403"/>
                <a:ext cx="317452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D3CA6C-DB9A-5D29-73A2-0C9FA2896DB7}"/>
                  </a:ext>
                </a:extLst>
              </p:cNvPr>
              <p:cNvSpPr txBox="1"/>
              <p:nvPr/>
            </p:nvSpPr>
            <p:spPr>
              <a:xfrm>
                <a:off x="5547305" y="2743809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D3CA6C-DB9A-5D29-73A2-0C9FA2896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305" y="2743809"/>
                <a:ext cx="3374963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F2B104E8-D6E0-9432-D27F-CAB25494B615}"/>
              </a:ext>
            </a:extLst>
          </p:cNvPr>
          <p:cNvSpPr/>
          <p:nvPr/>
        </p:nvSpPr>
        <p:spPr>
          <a:xfrm>
            <a:off x="2127895" y="2547375"/>
            <a:ext cx="3157268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80E129B-D1A3-2096-5FF9-3A5C390C69B2}"/>
                  </a:ext>
                </a:extLst>
              </p:cNvPr>
              <p:cNvSpPr txBox="1"/>
              <p:nvPr/>
            </p:nvSpPr>
            <p:spPr>
              <a:xfrm>
                <a:off x="6703560" y="1516491"/>
                <a:ext cx="126410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12×12</m:t>
                      </m:r>
                    </m:oMath>
                  </m:oMathPara>
                </a14:m>
                <a:endParaRPr lang="en-US" altLang="zh-TW" sz="21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80E129B-D1A3-2096-5FF9-3A5C390C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560" y="1516491"/>
                <a:ext cx="1264103" cy="4154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29880C7-AB12-5CD3-3FC1-5C51FDF703A7}"/>
                  </a:ext>
                </a:extLst>
              </p:cNvPr>
              <p:cNvSpPr txBox="1"/>
              <p:nvPr/>
            </p:nvSpPr>
            <p:spPr>
              <a:xfrm>
                <a:off x="7765597" y="1516491"/>
                <a:ext cx="126410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12×9</m:t>
                      </m:r>
                    </m:oMath>
                  </m:oMathPara>
                </a14:m>
                <a:endParaRPr lang="en-US" altLang="zh-TW" sz="2100" kern="1200" dirty="0">
                  <a:solidFill>
                    <a:srgbClr val="FFC000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29880C7-AB12-5CD3-3FC1-5C51FDF70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597" y="1516491"/>
                <a:ext cx="1264103" cy="415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744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26E4-2794-72BA-CB29-622F798D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FDECAE-9B12-4976-B614-B4A3EC3FB9FD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FDECAE-9B12-4976-B614-B4A3EC3FB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C45F12-1FD7-1213-D454-5A2632B4CA2A}"/>
                  </a:ext>
                </a:extLst>
              </p:cNvPr>
              <p:cNvSpPr txBox="1"/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4C45F12-1FD7-1213-D454-5A2632B4C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60B3076-1696-080D-4BEB-55BC07646898}"/>
                  </a:ext>
                </a:extLst>
              </p:cNvPr>
              <p:cNvSpPr txBox="1"/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60B3076-1696-080D-4BEB-55BC07646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11FFD1D-446B-AA1F-23B4-086C7EE4B9DD}"/>
              </a:ext>
            </a:extLst>
          </p:cNvPr>
          <p:cNvSpPr txBox="1"/>
          <p:nvPr/>
        </p:nvSpPr>
        <p:spPr>
          <a:xfrm>
            <a:off x="478971" y="1300162"/>
            <a:ext cx="14638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Encoder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B6CF1D-B341-C7B8-7DFC-63E3020ED454}"/>
              </a:ext>
            </a:extLst>
          </p:cNvPr>
          <p:cNvSpPr txBox="1"/>
          <p:nvPr/>
        </p:nvSpPr>
        <p:spPr>
          <a:xfrm>
            <a:off x="478970" y="3034337"/>
            <a:ext cx="15023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Decoder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AA0E4251-BF35-9481-78BB-07DD336968A3}"/>
              </a:ext>
            </a:extLst>
          </p:cNvPr>
          <p:cNvSpPr/>
          <p:nvPr/>
        </p:nvSpPr>
        <p:spPr>
          <a:xfrm>
            <a:off x="4424037" y="2456266"/>
            <a:ext cx="1112910" cy="115614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0816BC7-2995-C6FB-BFB1-48E75DD46943}"/>
              </a:ext>
            </a:extLst>
          </p:cNvPr>
          <p:cNvSpPr txBox="1"/>
          <p:nvPr/>
        </p:nvSpPr>
        <p:spPr>
          <a:xfrm>
            <a:off x="5493295" y="2376465"/>
            <a:ext cx="317173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Quantum</a:t>
            </a:r>
          </a:p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2502186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885A-297A-9579-D6EC-B20728D6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F61142E-F953-4235-55DE-1D5113BFF5DE}"/>
                  </a:ext>
                </a:extLst>
              </p:cNvPr>
              <p:cNvSpPr txBox="1"/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342900">
                  <a:buClrTx/>
                </a:pPr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Goal: Implement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𝐺</m:t>
                        </m:r>
                      </m:e>
                      <m:sub>
                        <m:r>
                          <a:rPr lang="en-US" altLang="zh-TW" sz="30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𝑠𝑦𝑚</m:t>
                        </m:r>
                      </m:sub>
                    </m:sSub>
                  </m:oMath>
                </a14:m>
                <a:r>
                  <a:rPr lang="en-US" altLang="zh-TW" sz="3000" kern="1200" dirty="0">
                    <a:solidFill>
                      <a:prstClr val="white"/>
                    </a:solidFill>
                    <a:latin typeface="Calibri" panose="020F0502020204030204"/>
                    <a:ea typeface="新細明體" panose="02020500000000000000" pitchFamily="18" charset="-120"/>
                    <a:cs typeface="+mn-cs"/>
                  </a:rPr>
                  <a:t> in quantum circuit.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F61142E-F953-4235-55DE-1D5113BF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536880"/>
                <a:ext cx="8186057" cy="590418"/>
              </a:xfrm>
              <a:prstGeom prst="rect">
                <a:avLst/>
              </a:prstGeom>
              <a:blipFill>
                <a:blip r:embed="rId2"/>
                <a:stretch>
                  <a:fillRect t="-12371" b="-25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9EB777-BD56-75B4-83DE-7EF69A1EFB1E}"/>
                  </a:ext>
                </a:extLst>
              </p:cNvPr>
              <p:cNvSpPr txBox="1"/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5400" i="1" kern="120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9EB777-BD56-75B4-83DE-7EF69A1E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2" y="1786547"/>
                <a:ext cx="3174523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92EFC3-4C74-F4D6-5CF9-32D2F7380250}"/>
                  </a:ext>
                </a:extLst>
              </p:cNvPr>
              <p:cNvSpPr txBox="1"/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3429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=[</m:t>
                      </m:r>
                      <m:sSup>
                        <m:sSupPr>
                          <m:ctrlP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lang="en-US" altLang="zh-TW" sz="5400" i="1" kern="12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|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𝐼</m:t>
                      </m:r>
                      <m:r>
                        <a:rPr lang="en-US" altLang="zh-TW" sz="5400" i="1" kern="120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cs typeface="+mn-cs"/>
                        </a:rPr>
                        <m:t>]</m:t>
                      </m:r>
                    </m:oMath>
                  </m:oMathPara>
                </a14:m>
                <a:endParaRPr lang="zh-TW" altLang="en-US" sz="5400" kern="120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92EFC3-4C74-F4D6-5CF9-32D2F7380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3579628"/>
                <a:ext cx="3374963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F674C7CD-A9FD-9091-3A3A-10539030423F}"/>
              </a:ext>
            </a:extLst>
          </p:cNvPr>
          <p:cNvSpPr txBox="1"/>
          <p:nvPr/>
        </p:nvSpPr>
        <p:spPr>
          <a:xfrm>
            <a:off x="478971" y="1300162"/>
            <a:ext cx="14638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Encoder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47100B-C916-913E-3DBC-BDB3CE72E3C7}"/>
              </a:ext>
            </a:extLst>
          </p:cNvPr>
          <p:cNvSpPr txBox="1"/>
          <p:nvPr/>
        </p:nvSpPr>
        <p:spPr>
          <a:xfrm>
            <a:off x="478970" y="3034337"/>
            <a:ext cx="15023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Decoder</a:t>
            </a:r>
            <a:endParaRPr lang="zh-TW" altLang="en-US" sz="30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0F3A3752-7EB1-3CC6-F184-9F1AF2925F3B}"/>
              </a:ext>
            </a:extLst>
          </p:cNvPr>
          <p:cNvSpPr/>
          <p:nvPr/>
        </p:nvSpPr>
        <p:spPr>
          <a:xfrm>
            <a:off x="4152575" y="3768021"/>
            <a:ext cx="1112910" cy="4542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lang="zh-TW" altLang="en-US" sz="1350" kern="120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1DA284-DD6E-D5DA-3C1D-D027C1C31DAE}"/>
              </a:ext>
            </a:extLst>
          </p:cNvPr>
          <p:cNvSpPr txBox="1"/>
          <p:nvPr/>
        </p:nvSpPr>
        <p:spPr>
          <a:xfrm>
            <a:off x="5150395" y="3648877"/>
            <a:ext cx="317173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405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Syndrome</a:t>
            </a:r>
          </a:p>
        </p:txBody>
      </p:sp>
    </p:spTree>
    <p:extLst>
      <p:ext uri="{BB962C8B-B14F-4D97-AF65-F5344CB8AC3E}">
        <p14:creationId xmlns:p14="http://schemas.microsoft.com/office/powerpoint/2010/main" val="3129335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8264B-8893-CCF2-A579-7BB169F3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CA277700-8463-1081-9BC4-B8103F92EFF4}"/>
              </a:ext>
            </a:extLst>
          </p:cNvPr>
          <p:cNvSpPr txBox="1"/>
          <p:nvPr/>
        </p:nvSpPr>
        <p:spPr>
          <a:xfrm>
            <a:off x="478972" y="536880"/>
            <a:ext cx="8186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US" altLang="zh-TW" sz="30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Existing Quantum RS Implementations</a:t>
            </a:r>
          </a:p>
        </p:txBody>
      </p:sp>
      <p:pic>
        <p:nvPicPr>
          <p:cNvPr id="5" name="圖片 4" descr="一張含有 文字, 字型, 螢幕擷取畫面, 文件 的圖片&#10;&#10;AI 產生的內容可能不正確。">
            <a:extLst>
              <a:ext uri="{FF2B5EF4-FFF2-40B4-BE49-F238E27FC236}">
                <a16:creationId xmlns:a16="http://schemas.microsoft.com/office/drawing/2014/main" id="{242D2688-C928-C6E2-9E1B-1C0C94ED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227222"/>
            <a:ext cx="3436165" cy="2400299"/>
          </a:xfrm>
          <a:prstGeom prst="rect">
            <a:avLst/>
          </a:prstGeom>
        </p:spPr>
      </p:pic>
      <p:pic>
        <p:nvPicPr>
          <p:cNvPr id="12" name="圖片 11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364A95C1-9D19-967B-80DE-2025F3FC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2582420"/>
            <a:ext cx="3436165" cy="209020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2F280BB-DF78-B862-6FDB-3F67DC589E4C}"/>
              </a:ext>
            </a:extLst>
          </p:cNvPr>
          <p:cNvSpPr txBox="1"/>
          <p:nvPr/>
        </p:nvSpPr>
        <p:spPr>
          <a:xfrm>
            <a:off x="4196013" y="1760622"/>
            <a:ext cx="47013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 defTabSz="342900">
              <a:buClrTx/>
              <a:buFont typeface="Arial" panose="020B0604020202020204" pitchFamily="34" charset="0"/>
              <a:buChar char="•"/>
            </a:pPr>
            <a:r>
              <a:rPr lang="en-US" altLang="zh-TW" sz="27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For cat qubits, unnecessarily corrects phase flip errors</a:t>
            </a:r>
          </a:p>
          <a:p>
            <a:pPr defTabSz="342900">
              <a:buClrTx/>
            </a:pPr>
            <a:endParaRPr lang="en-US" altLang="zh-TW" sz="2700" kern="120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428625" indent="-428625" defTabSz="342900">
              <a:buClrTx/>
              <a:buFont typeface="Arial" panose="020B0604020202020204" pitchFamily="34" charset="0"/>
              <a:buChar char="•"/>
            </a:pPr>
            <a:r>
              <a:rPr lang="en-US" altLang="zh-TW" sz="2700" kern="120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  <a:cs typeface="+mn-cs"/>
              </a:rPr>
              <a:t>DFT requires non-Cliffords and is not implementable with Stim</a:t>
            </a:r>
          </a:p>
        </p:txBody>
      </p:sp>
    </p:spTree>
    <p:extLst>
      <p:ext uri="{BB962C8B-B14F-4D97-AF65-F5344CB8AC3E}">
        <p14:creationId xmlns:p14="http://schemas.microsoft.com/office/powerpoint/2010/main" val="2047707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 Reed-Solomon</a:t>
            </a:r>
            <a:endParaRPr/>
          </a:p>
        </p:txBody>
      </p:sp>
      <p:sp>
        <p:nvSpPr>
          <p:cNvPr id="611" name="Google Shape;611;p5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Cons: Repetition</a:t>
            </a:r>
            <a:endParaRPr/>
          </a:p>
        </p:txBody>
      </p:sp>
      <p:sp>
        <p:nvSpPr>
          <p:cNvPr id="612" name="Google Shape;612;p5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 Repetition</a:t>
            </a:r>
            <a:endParaRPr/>
          </a:p>
        </p:txBody>
      </p:sp>
      <p:sp>
        <p:nvSpPr>
          <p:cNvPr id="613" name="Google Shape;613;p5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Cons: Reed-Solomon</a:t>
            </a:r>
            <a:endParaRPr/>
          </a:p>
        </p:txBody>
      </p:sp>
      <p:sp>
        <p:nvSpPr>
          <p:cNvPr id="614" name="Google Shape;614;p58"/>
          <p:cNvSpPr txBox="1">
            <a:spLocks noGrp="1"/>
          </p:cNvSpPr>
          <p:nvPr>
            <p:ph type="body" idx="1"/>
          </p:nvPr>
        </p:nvSpPr>
        <p:spPr>
          <a:xfrm>
            <a:off x="457200" y="1759100"/>
            <a:ext cx="3745200" cy="555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Simple, easy to implement and decode, robust against errors</a:t>
            </a:r>
            <a:endParaRPr/>
          </a:p>
        </p:txBody>
      </p:sp>
      <p:sp>
        <p:nvSpPr>
          <p:cNvPr id="615" name="Google Shape;615;p58"/>
          <p:cNvSpPr txBox="1">
            <a:spLocks noGrp="1"/>
          </p:cNvSpPr>
          <p:nvPr>
            <p:ph type="body" idx="2"/>
          </p:nvPr>
        </p:nvSpPr>
        <p:spPr>
          <a:xfrm>
            <a:off x="4938750" y="172444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code rate, robust against bursts and erasures, optimal code distance</a:t>
            </a:r>
            <a:endParaRPr/>
          </a:p>
        </p:txBody>
      </p:sp>
      <p:sp>
        <p:nvSpPr>
          <p:cNvPr id="616" name="Google Shape;616;p5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Poor code rate, bad at handling bursts of errors</a:t>
            </a:r>
            <a:endParaRPr/>
          </a:p>
        </p:txBody>
      </p:sp>
      <p:sp>
        <p:nvSpPr>
          <p:cNvPr id="617" name="Google Shape;617;p5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Computationally intensive, harder to implement and decode</a:t>
            </a:r>
            <a:endParaRPr/>
          </a:p>
        </p:txBody>
      </p:sp>
      <p:sp>
        <p:nvSpPr>
          <p:cNvPr id="618" name="Google Shape;618;p5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Repetition vs. Reed-Solomon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Complexity separation </a:t>
            </a:r>
            <a:r>
              <a:rPr lang="en" sz="1400"/>
              <a:t>allows both codes to contribute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Repetition (or other LDPC codes) deal with sparse error cases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R-S code receives dramatically reduced workload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 is much faster than R-S and much more reliable than repetition</a:t>
            </a:r>
            <a:endParaRPr sz="1400"/>
          </a:p>
        </p:txBody>
      </p:sp>
      <p:sp>
        <p:nvSpPr>
          <p:cNvPr id="624" name="Google Shape;624;p59"/>
          <p:cNvSpPr txBox="1">
            <a:spLocks noGrp="1"/>
          </p:cNvSpPr>
          <p:nvPr>
            <p:ph type="title" idx="4294967295"/>
          </p:nvPr>
        </p:nvSpPr>
        <p:spPr>
          <a:xfrm>
            <a:off x="311700" y="450025"/>
            <a:ext cx="8356200" cy="7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Tornados: Best of Both Worlds</a:t>
            </a:r>
            <a:endParaRPr sz="3000"/>
          </a:p>
        </p:txBody>
      </p:sp>
      <p:sp>
        <p:nvSpPr>
          <p:cNvPr id="625" name="Google Shape;625;p59"/>
          <p:cNvSpPr/>
          <p:nvPr/>
        </p:nvSpPr>
        <p:spPr>
          <a:xfrm>
            <a:off x="5735304" y="3003188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Decryption occurs in the opposite direction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59"/>
          <p:cNvSpPr/>
          <p:nvPr/>
        </p:nvSpPr>
        <p:spPr>
          <a:xfrm>
            <a:off x="102988" y="3003402"/>
            <a:ext cx="3546900" cy="669000"/>
          </a:xfrm>
          <a:prstGeom prst="homePlat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Raw message is encoded using repetition (fast)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9"/>
          <p:cNvSpPr/>
          <p:nvPr/>
        </p:nvSpPr>
        <p:spPr>
          <a:xfrm>
            <a:off x="3047192" y="3003188"/>
            <a:ext cx="3305700" cy="66900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Repeated message is encoded using Reed Solomon (reliable)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Quantum Tornado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33" name="Google Shape;63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 the best of our knowledge, we introduce the first instance of a tornado code for quantum error correction</a:t>
            </a:r>
            <a:endParaRPr sz="16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Layers a repetition code and a quantum Reed-Solomon code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Shows significant advantage over either algorithm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Over 10^5 tests at each error probability, tornado suppresses 100% of physical error for p&lt;0.03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Up to p=0.1, tornado is far better than each individual algorithm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10^6 tests simulated in 8.5 seconds with Stim</a:t>
            </a:r>
            <a:endParaRPr sz="1300"/>
          </a:p>
        </p:txBody>
      </p:sp>
      <p:pic>
        <p:nvPicPr>
          <p:cNvPr id="634" name="Google Shape;63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090" y="1236625"/>
            <a:ext cx="4655611" cy="32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61" title="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236"/>
            <a:ext cx="9144003" cy="115194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1"/>
          <p:cNvSpPr/>
          <p:nvPr/>
        </p:nvSpPr>
        <p:spPr>
          <a:xfrm>
            <a:off x="1183175" y="1361500"/>
            <a:ext cx="649200" cy="797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41" name="Google Shape;641;p61" title="Screenshot 2026-02-01 at 2.48.1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88" y="2285925"/>
            <a:ext cx="6095324" cy="26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1"/>
          <p:cNvSpPr txBox="1"/>
          <p:nvPr/>
        </p:nvSpPr>
        <p:spPr>
          <a:xfrm>
            <a:off x="6269150" y="3337800"/>
            <a:ext cx="281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Repetition module</a:t>
            </a:r>
            <a:endParaRPr sz="12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3" name="Google Shape;643;p61"/>
          <p:cNvSpPr txBox="1"/>
          <p:nvPr/>
        </p:nvSpPr>
        <p:spPr>
          <a:xfrm>
            <a:off x="3949800" y="1331725"/>
            <a:ext cx="51942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9 logical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27 intermediate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63 final message qubits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44" name="Google Shape;644;p61"/>
          <p:cNvCxnSpPr/>
          <p:nvPr/>
        </p:nvCxnSpPr>
        <p:spPr>
          <a:xfrm rot="10800000">
            <a:off x="6064475" y="1674325"/>
            <a:ext cx="1101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5" name="Google Shape;645;p61"/>
          <p:cNvSpPr txBox="1"/>
          <p:nvPr/>
        </p:nvSpPr>
        <p:spPr>
          <a:xfrm>
            <a:off x="7270800" y="1419425"/>
            <a:ext cx="1644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Can be changed for any  repetition count and R-S code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2"/>
          <p:cNvSpPr txBox="1">
            <a:spLocks noGrp="1"/>
          </p:cNvSpPr>
          <p:nvPr>
            <p:ph type="title"/>
          </p:nvPr>
        </p:nvSpPr>
        <p:spPr>
          <a:xfrm>
            <a:off x="499825" y="364225"/>
            <a:ext cx="5278200" cy="73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Metrics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1" name="Google Shape;651;p62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2" name="Google Shape;652;p62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3" name="Google Shape;653;p62"/>
          <p:cNvSpPr txBox="1">
            <a:spLocks noGrp="1"/>
          </p:cNvSpPr>
          <p:nvPr>
            <p:ph type="title" idx="4294967295"/>
          </p:nvPr>
        </p:nvSpPr>
        <p:spPr>
          <a:xfrm>
            <a:off x="4327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Connectivity</a:t>
            </a:r>
            <a:endParaRPr/>
          </a:p>
        </p:txBody>
      </p:sp>
      <p:sp>
        <p:nvSpPr>
          <p:cNvPr id="654" name="Google Shape;654;p62"/>
          <p:cNvSpPr txBox="1">
            <a:spLocks noGrp="1"/>
          </p:cNvSpPr>
          <p:nvPr>
            <p:ph type="title" idx="4294967295"/>
          </p:nvPr>
        </p:nvSpPr>
        <p:spPr>
          <a:xfrm>
            <a:off x="34579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Rate</a:t>
            </a:r>
            <a:endParaRPr/>
          </a:p>
        </p:txBody>
      </p:sp>
      <p:sp>
        <p:nvSpPr>
          <p:cNvPr id="655" name="Google Shape;655;p62"/>
          <p:cNvSpPr txBox="1">
            <a:spLocks noGrp="1"/>
          </p:cNvSpPr>
          <p:nvPr>
            <p:ph type="title" idx="4294967295"/>
          </p:nvPr>
        </p:nvSpPr>
        <p:spPr>
          <a:xfrm>
            <a:off x="6372350" y="1221475"/>
            <a:ext cx="22281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Distance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3"/>
          <p:cNvSpPr txBox="1">
            <a:spLocks noGrp="1"/>
          </p:cNvSpPr>
          <p:nvPr>
            <p:ph type="title"/>
          </p:nvPr>
        </p:nvSpPr>
        <p:spPr>
          <a:xfrm>
            <a:off x="499825" y="364225"/>
            <a:ext cx="5278200" cy="738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61" name="Google Shape;661;p6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2" name="Google Shape;662;p6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63" name="Google Shape;663;p63" title="IMG_24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88" y="1261050"/>
            <a:ext cx="3852021" cy="268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904</Words>
  <Application>Microsoft Office PowerPoint</Application>
  <PresentationFormat>如螢幕大小 (16:9)</PresentationFormat>
  <Paragraphs>144</Paragraphs>
  <Slides>30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30</vt:i4>
      </vt:variant>
    </vt:vector>
  </HeadingPairs>
  <TitlesOfParts>
    <vt:vector size="39" baseType="lpstr">
      <vt:lpstr>Calibri</vt:lpstr>
      <vt:lpstr>Cambria Math</vt:lpstr>
      <vt:lpstr>Calibri Light</vt:lpstr>
      <vt:lpstr>Red Hat Display</vt:lpstr>
      <vt:lpstr>Roboto</vt:lpstr>
      <vt:lpstr>Arial</vt:lpstr>
      <vt:lpstr>Simple Light</vt:lpstr>
      <vt:lpstr>Investor Pitch Presentation</vt:lpstr>
      <vt:lpstr>Office 佈景主題</vt:lpstr>
      <vt:lpstr>Cat-Optimized RS and Quantum Tornado Error-Correction</vt:lpstr>
      <vt:lpstr>Classical Reed–Solomon Error Correction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Quantum Reed–Solomon Error Correction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Repetition vs. Reed-Solomon</vt:lpstr>
      <vt:lpstr>Tornados: Best of Both Worlds</vt:lpstr>
      <vt:lpstr>Quantum Tornado</vt:lpstr>
      <vt:lpstr>PowerPoint 簡報</vt:lpstr>
      <vt:lpstr>Key Metrics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Cheng-You Ho</cp:lastModifiedBy>
  <cp:revision>2</cp:revision>
  <dcterms:modified xsi:type="dcterms:W3CDTF">2026-02-01T14:48:37Z</dcterms:modified>
</cp:coreProperties>
</file>